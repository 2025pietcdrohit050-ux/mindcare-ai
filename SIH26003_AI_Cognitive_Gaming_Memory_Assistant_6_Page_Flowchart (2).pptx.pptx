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Arial Bold" charset="1" panose="020B0704020202020204"/>
      <p:regular r:id="rId15"/>
    </p:embeddedFont>
    <p:embeddedFont>
      <p:font typeface="Calibri (MS)" charset="1" panose="020F0502020204030204"/>
      <p:regular r:id="rId16"/>
    </p:embeddedFont>
    <p:embeddedFont>
      <p:font typeface="Aptos" charset="1" panose="020B0004020202020204"/>
      <p:regular r:id="rId17"/>
    </p:embeddedFont>
    <p:embeddedFont>
      <p:font typeface="Canva Sans Bold" charset="1" panose="020B0803030501040103"/>
      <p:regular r:id="rId18"/>
    </p:embeddedFont>
    <p:embeddedFont>
      <p:font typeface="Calibri (MS) Bold" charset="1" panose="020F0702030404030204"/>
      <p:regular r:id="rId19"/>
    </p:embeddedFont>
    <p:embeddedFont>
      <p:font typeface="Aptos Italics" charset="1" panose="020B0004020202090204"/>
      <p:regular r:id="rId20"/>
    </p:embeddedFont>
    <p:embeddedFont>
      <p:font typeface="Aptos Bold Italics" charset="1" panose="020B000402020209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6E5F5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784681" y="0"/>
            <a:ext cx="3374774" cy="1593504"/>
            <a:chOff x="0" y="0"/>
            <a:chExt cx="4499699" cy="21246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56696" y="1000125"/>
            <a:ext cx="1261872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1656" y="-1050525"/>
            <a:ext cx="16408799" cy="3287792"/>
            <a:chOff x="0" y="0"/>
            <a:chExt cx="20726400" cy="4152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967207" y="1525848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7" y="0"/>
                </a:lnTo>
                <a:lnTo>
                  <a:pt x="6957907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197984" y="3401947"/>
            <a:ext cx="4240741" cy="4535581"/>
            <a:chOff x="0" y="0"/>
            <a:chExt cx="6407023" cy="6852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28561" y="3177484"/>
            <a:ext cx="7640629" cy="5731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–SIH26003</a:t>
            </a: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AI-Based Cognitive Gaming and Memory Assistant</a:t>
            </a: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Theme-MedTech/BioTech /HealthTech</a:t>
            </a: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468952" indent="-234476" lvl="1">
              <a:lnSpc>
                <a:spcPts val="6219"/>
              </a:lnSpc>
              <a:buFont typeface="Arial"/>
              <a:buChar char="•"/>
            </a:pPr>
            <a:r>
              <a:rPr lang="en-US" b="true" sz="25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(Mindforge)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6E5F5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066419" y="3981466"/>
            <a:ext cx="2691013" cy="1606601"/>
            <a:chOff x="0" y="0"/>
            <a:chExt cx="3588017" cy="2142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8004" cy="2142109"/>
            </a:xfrm>
            <a:custGeom>
              <a:avLst/>
              <a:gdLst/>
              <a:ahLst/>
              <a:cxnLst/>
              <a:rect r="r" b="b" t="t" l="l"/>
              <a:pathLst>
                <a:path h="2142109" w="3588004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3231007" y="0"/>
                  </a:lnTo>
                  <a:cubicBezTo>
                    <a:pt x="3428238" y="0"/>
                    <a:pt x="3588004" y="159893"/>
                    <a:pt x="3588004" y="356997"/>
                  </a:cubicBezTo>
                  <a:lnTo>
                    <a:pt x="3588004" y="1785112"/>
                  </a:lnTo>
                  <a:cubicBezTo>
                    <a:pt x="3588004" y="1982343"/>
                    <a:pt x="3428111" y="2142109"/>
                    <a:pt x="3231007" y="2142109"/>
                  </a:cubicBezTo>
                  <a:lnTo>
                    <a:pt x="356997" y="2142109"/>
                  </a:lnTo>
                  <a:cubicBezTo>
                    <a:pt x="159893" y="2142109"/>
                    <a:pt x="0" y="1982343"/>
                    <a:pt x="0" y="1785112"/>
                  </a:cubicBezTo>
                  <a:close/>
                </a:path>
              </a:pathLst>
            </a:custGeom>
            <a:solidFill>
              <a:srgbClr val="BDD5EE"/>
            </a:solidFill>
            <a:ln w="14299" cap="sq">
              <a:solidFill>
                <a:srgbClr val="EAF5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514691" y="3910965"/>
            <a:ext cx="2691013" cy="1606601"/>
            <a:chOff x="0" y="0"/>
            <a:chExt cx="3588017" cy="21421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88004" cy="2142109"/>
            </a:xfrm>
            <a:custGeom>
              <a:avLst/>
              <a:gdLst/>
              <a:ahLst/>
              <a:cxnLst/>
              <a:rect r="r" b="b" t="t" l="l"/>
              <a:pathLst>
                <a:path h="2142109" w="3588004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3231007" y="0"/>
                  </a:lnTo>
                  <a:cubicBezTo>
                    <a:pt x="3428238" y="0"/>
                    <a:pt x="3588004" y="159893"/>
                    <a:pt x="3588004" y="356997"/>
                  </a:cubicBezTo>
                  <a:lnTo>
                    <a:pt x="3588004" y="1785112"/>
                  </a:lnTo>
                  <a:cubicBezTo>
                    <a:pt x="3588004" y="1982343"/>
                    <a:pt x="3428111" y="2142109"/>
                    <a:pt x="3231007" y="2142109"/>
                  </a:cubicBezTo>
                  <a:lnTo>
                    <a:pt x="356997" y="2142109"/>
                  </a:lnTo>
                  <a:cubicBezTo>
                    <a:pt x="159893" y="2142109"/>
                    <a:pt x="0" y="1982343"/>
                    <a:pt x="0" y="1785112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1ED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117328" y="6702214"/>
            <a:ext cx="2691013" cy="1606601"/>
            <a:chOff x="0" y="0"/>
            <a:chExt cx="3588017" cy="2142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88004" cy="2142109"/>
            </a:xfrm>
            <a:custGeom>
              <a:avLst/>
              <a:gdLst/>
              <a:ahLst/>
              <a:cxnLst/>
              <a:rect r="r" b="b" t="t" l="l"/>
              <a:pathLst>
                <a:path h="2142109" w="3588004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3231007" y="0"/>
                  </a:lnTo>
                  <a:cubicBezTo>
                    <a:pt x="3428238" y="0"/>
                    <a:pt x="3588004" y="159893"/>
                    <a:pt x="3588004" y="356997"/>
                  </a:cubicBezTo>
                  <a:lnTo>
                    <a:pt x="3588004" y="1785112"/>
                  </a:lnTo>
                  <a:cubicBezTo>
                    <a:pt x="3588004" y="1982343"/>
                    <a:pt x="3428111" y="2142109"/>
                    <a:pt x="3231007" y="2142109"/>
                  </a:cubicBezTo>
                  <a:lnTo>
                    <a:pt x="356997" y="2142109"/>
                  </a:lnTo>
                  <a:cubicBezTo>
                    <a:pt x="159893" y="2142109"/>
                    <a:pt x="0" y="1982343"/>
                    <a:pt x="0" y="1785112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1ED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663591" y="6620854"/>
            <a:ext cx="2691013" cy="1606601"/>
            <a:chOff x="0" y="0"/>
            <a:chExt cx="3588017" cy="2142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88004" cy="2142109"/>
            </a:xfrm>
            <a:custGeom>
              <a:avLst/>
              <a:gdLst/>
              <a:ahLst/>
              <a:cxnLst/>
              <a:rect r="r" b="b" t="t" l="l"/>
              <a:pathLst>
                <a:path h="2142109" w="3588004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3231007" y="0"/>
                  </a:lnTo>
                  <a:cubicBezTo>
                    <a:pt x="3428238" y="0"/>
                    <a:pt x="3588004" y="159893"/>
                    <a:pt x="3588004" y="356997"/>
                  </a:cubicBezTo>
                  <a:lnTo>
                    <a:pt x="3588004" y="1785112"/>
                  </a:lnTo>
                  <a:cubicBezTo>
                    <a:pt x="3588004" y="1982343"/>
                    <a:pt x="3428111" y="2142109"/>
                    <a:pt x="3231007" y="2142109"/>
                  </a:cubicBezTo>
                  <a:lnTo>
                    <a:pt x="356997" y="2142109"/>
                  </a:lnTo>
                  <a:cubicBezTo>
                    <a:pt x="159893" y="2142109"/>
                    <a:pt x="0" y="1982343"/>
                    <a:pt x="0" y="1785112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EAF5FF"/>
              </a:solidFill>
              <a:prstDash val="solid"/>
              <a:miter/>
            </a:ln>
          </p:spPr>
        </p:sp>
      </p:grpSp>
      <p:sp>
        <p:nvSpPr>
          <p:cNvPr name="AutoShape 12" id="12"/>
          <p:cNvSpPr/>
          <p:nvPr/>
        </p:nvSpPr>
        <p:spPr>
          <a:xfrm>
            <a:off x="12776862" y="4675665"/>
            <a:ext cx="714937" cy="28602"/>
          </a:xfrm>
          <a:prstGeom prst="line">
            <a:avLst/>
          </a:prstGeom>
          <a:ln cap="rnd" w="19050">
            <a:solidFill>
              <a:srgbClr val="9F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373815" y="5626548"/>
            <a:ext cx="28588" cy="1044377"/>
          </a:xfrm>
          <a:prstGeom prst="line">
            <a:avLst/>
          </a:prstGeom>
          <a:ln cap="rnd" w="19050">
            <a:solidFill>
              <a:srgbClr val="9F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970987" y="5517566"/>
            <a:ext cx="28588" cy="1044377"/>
          </a:xfrm>
          <a:prstGeom prst="line">
            <a:avLst/>
          </a:prstGeom>
          <a:ln cap="rnd" w="19050">
            <a:solidFill>
              <a:srgbClr val="9FC0D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4913226" y="0"/>
            <a:ext cx="3374774" cy="1593504"/>
            <a:chOff x="0" y="0"/>
            <a:chExt cx="4499699" cy="2124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0" y="0"/>
            <a:ext cx="1921740" cy="1252917"/>
            <a:chOff x="0" y="0"/>
            <a:chExt cx="2554516" cy="1665468"/>
          </a:xfrm>
        </p:grpSpPr>
        <p:sp>
          <p:nvSpPr>
            <p:cNvPr name="Freeform 18" id="18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Mindforge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03815" y="127772"/>
            <a:ext cx="514109" cy="498686"/>
          </a:xfrm>
          <a:custGeom>
            <a:avLst/>
            <a:gdLst/>
            <a:ahLst/>
            <a:cxnLst/>
            <a:rect r="r" b="b" t="t" l="l"/>
            <a:pathLst>
              <a:path h="498686" w="514109">
                <a:moveTo>
                  <a:pt x="0" y="0"/>
                </a:moveTo>
                <a:lnTo>
                  <a:pt x="514110" y="0"/>
                </a:lnTo>
                <a:lnTo>
                  <a:pt x="514110" y="498687"/>
                </a:lnTo>
                <a:lnTo>
                  <a:pt x="0" y="4986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2704" y="2539365"/>
            <a:ext cx="159230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353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A single platform for memory support, cognitive engagement and daily independence.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8137" y="9745970"/>
            <a:ext cx="823603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49069" y="4703280"/>
            <a:ext cx="2745343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9069" y="5398799"/>
            <a:ext cx="7343794" cy="127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People with mild memory difficulties can forget medicines, appointments, family details, important events and daily routines. Generic apps are rarely personal or adaptive.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3357" y="6654985"/>
            <a:ext cx="2745343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Solution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9069" y="7528880"/>
            <a:ext cx="7343794" cy="108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Our AI-based platform combines cognitive games, personal memory storage, voice support, smart reminders and a consent-based caregiver dashboard.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45156" y="4347769"/>
            <a:ext cx="2333539" cy="62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Cognitive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Games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04217" y="4280793"/>
            <a:ext cx="2333539" cy="62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Personal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Memory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6065" y="7105308"/>
            <a:ext cx="2333539" cy="62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Smart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Reminders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42327" y="7105777"/>
            <a:ext cx="2333539" cy="627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Caregiver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17328" y="8503329"/>
            <a:ext cx="6794725" cy="75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Personalized support grows from familiar information, accessible interaction and AI-guided activities.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94412" y="219805"/>
            <a:ext cx="10687272" cy="187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26"/>
              </a:lnSpc>
            </a:pPr>
            <a:r>
              <a:rPr lang="en-US" sz="537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- Based Cognitive Gaming and Memory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6E5F5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690441"/>
            <a:ext cx="3034179" cy="1002621"/>
            <a:chOff x="0" y="0"/>
            <a:chExt cx="4045572" cy="13368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5458" cy="1336802"/>
            </a:xfrm>
            <a:custGeom>
              <a:avLst/>
              <a:gdLst/>
              <a:ahLst/>
              <a:cxnLst/>
              <a:rect r="r" b="b" t="t" l="l"/>
              <a:pathLst>
                <a:path h="1336802" w="4045458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3822700" y="0"/>
                  </a:lnTo>
                  <a:cubicBezTo>
                    <a:pt x="3945763" y="0"/>
                    <a:pt x="4045458" y="99695"/>
                    <a:pt x="4045458" y="222758"/>
                  </a:cubicBezTo>
                  <a:lnTo>
                    <a:pt x="4045458" y="1114044"/>
                  </a:lnTo>
                  <a:cubicBezTo>
                    <a:pt x="4045458" y="1237107"/>
                    <a:pt x="3945763" y="1336802"/>
                    <a:pt x="3822700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EAF5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887287" y="2613656"/>
            <a:ext cx="3240081" cy="1002621"/>
            <a:chOff x="0" y="0"/>
            <a:chExt cx="4320108" cy="1336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0032" cy="1336802"/>
            </a:xfrm>
            <a:custGeom>
              <a:avLst/>
              <a:gdLst/>
              <a:ahLst/>
              <a:cxnLst/>
              <a:rect r="r" b="b" t="t" l="l"/>
              <a:pathLst>
                <a:path h="1336802" w="4320032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4097274" y="0"/>
                  </a:lnTo>
                  <a:cubicBezTo>
                    <a:pt x="4220337" y="0"/>
                    <a:pt x="4320032" y="99695"/>
                    <a:pt x="4320032" y="222758"/>
                  </a:cubicBezTo>
                  <a:lnTo>
                    <a:pt x="4320032" y="1114044"/>
                  </a:lnTo>
                  <a:cubicBezTo>
                    <a:pt x="4320032" y="1237107"/>
                    <a:pt x="4220337" y="1336802"/>
                    <a:pt x="4097274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DDEB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853735" y="2575301"/>
            <a:ext cx="3240081" cy="1002621"/>
            <a:chOff x="0" y="0"/>
            <a:chExt cx="4320108" cy="13368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20032" cy="1336802"/>
            </a:xfrm>
            <a:custGeom>
              <a:avLst/>
              <a:gdLst/>
              <a:ahLst/>
              <a:cxnLst/>
              <a:rect r="r" b="b" t="t" l="l"/>
              <a:pathLst>
                <a:path h="1336802" w="4320032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4097274" y="0"/>
                  </a:lnTo>
                  <a:cubicBezTo>
                    <a:pt x="4220337" y="0"/>
                    <a:pt x="4320032" y="99695"/>
                    <a:pt x="4320032" y="222758"/>
                  </a:cubicBezTo>
                  <a:lnTo>
                    <a:pt x="4320032" y="1114044"/>
                  </a:lnTo>
                  <a:cubicBezTo>
                    <a:pt x="4320032" y="1237107"/>
                    <a:pt x="4220337" y="1336802"/>
                    <a:pt x="4097274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1ED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94012" y="2454433"/>
            <a:ext cx="3240081" cy="1002621"/>
            <a:chOff x="0" y="0"/>
            <a:chExt cx="4320108" cy="13368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0032" cy="1336802"/>
            </a:xfrm>
            <a:custGeom>
              <a:avLst/>
              <a:gdLst/>
              <a:ahLst/>
              <a:cxnLst/>
              <a:rect r="r" b="b" t="t" l="l"/>
              <a:pathLst>
                <a:path h="1336802" w="4320032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4097274" y="0"/>
                  </a:lnTo>
                  <a:cubicBezTo>
                    <a:pt x="4220337" y="0"/>
                    <a:pt x="4320032" y="99695"/>
                    <a:pt x="4320032" y="222758"/>
                  </a:cubicBezTo>
                  <a:lnTo>
                    <a:pt x="4320032" y="1114044"/>
                  </a:lnTo>
                  <a:cubicBezTo>
                    <a:pt x="4320032" y="1237107"/>
                    <a:pt x="4220337" y="1336802"/>
                    <a:pt x="4097274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EAF5FF"/>
              </a:solidFill>
              <a:prstDash val="solid"/>
              <a:miter/>
            </a:ln>
          </p:spPr>
        </p:sp>
      </p:grpSp>
      <p:sp>
        <p:nvSpPr>
          <p:cNvPr name="AutoShape 12" id="12"/>
          <p:cNvSpPr/>
          <p:nvPr/>
        </p:nvSpPr>
        <p:spPr>
          <a:xfrm>
            <a:off x="4107858" y="3165286"/>
            <a:ext cx="759793" cy="40766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8050576" y="3137125"/>
            <a:ext cx="834553" cy="13860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2112019" y="2927141"/>
            <a:ext cx="714937" cy="28602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2545790" y="5404465"/>
            <a:ext cx="3377346" cy="1002621"/>
            <a:chOff x="0" y="0"/>
            <a:chExt cx="4503128" cy="13368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03039" cy="1336802"/>
            </a:xfrm>
            <a:custGeom>
              <a:avLst/>
              <a:gdLst/>
              <a:ahLst/>
              <a:cxnLst/>
              <a:rect r="r" b="b" t="t" l="l"/>
              <a:pathLst>
                <a:path h="1336802" w="4503039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4280281" y="0"/>
                  </a:lnTo>
                  <a:cubicBezTo>
                    <a:pt x="4403344" y="0"/>
                    <a:pt x="4503039" y="99695"/>
                    <a:pt x="4503039" y="222758"/>
                  </a:cubicBezTo>
                  <a:lnTo>
                    <a:pt x="4503039" y="1114044"/>
                  </a:lnTo>
                  <a:cubicBezTo>
                    <a:pt x="4503039" y="1237107"/>
                    <a:pt x="4403344" y="1336802"/>
                    <a:pt x="4280281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1EDFF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779714" y="5710324"/>
            <a:ext cx="3143421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5. AI Analyzes Performance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36048" y="5573049"/>
            <a:ext cx="3445983" cy="834036"/>
            <a:chOff x="0" y="0"/>
            <a:chExt cx="4594644" cy="11120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94606" cy="1112027"/>
            </a:xfrm>
            <a:custGeom>
              <a:avLst/>
              <a:gdLst/>
              <a:ahLst/>
              <a:cxnLst/>
              <a:rect r="r" b="b" t="t" l="l"/>
              <a:pathLst>
                <a:path h="1112027" w="4594606">
                  <a:moveTo>
                    <a:pt x="0" y="185303"/>
                  </a:moveTo>
                  <a:cubicBezTo>
                    <a:pt x="0" y="82932"/>
                    <a:pt x="99695" y="0"/>
                    <a:pt x="222758" y="0"/>
                  </a:cubicBezTo>
                  <a:lnTo>
                    <a:pt x="4371848" y="0"/>
                  </a:lnTo>
                  <a:cubicBezTo>
                    <a:pt x="4494911" y="0"/>
                    <a:pt x="4594606" y="82932"/>
                    <a:pt x="4594606" y="185303"/>
                  </a:cubicBezTo>
                  <a:lnTo>
                    <a:pt x="4594606" y="926725"/>
                  </a:lnTo>
                  <a:cubicBezTo>
                    <a:pt x="4594606" y="1029095"/>
                    <a:pt x="4494911" y="1112027"/>
                    <a:pt x="4371848" y="1112027"/>
                  </a:cubicBezTo>
                  <a:lnTo>
                    <a:pt x="222758" y="1112027"/>
                  </a:lnTo>
                  <a:cubicBezTo>
                    <a:pt x="99695" y="1112027"/>
                    <a:pt x="0" y="1029095"/>
                    <a:pt x="0" y="926725"/>
                  </a:cubicBezTo>
                  <a:close/>
                </a:path>
              </a:pathLst>
            </a:custGeom>
            <a:solidFill>
              <a:srgbClr val="DCEBFF"/>
            </a:solidFill>
            <a:ln w="14299" cap="sq">
              <a:solidFill>
                <a:srgbClr val="BDD5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022610" y="5530771"/>
            <a:ext cx="3240081" cy="907371"/>
            <a:chOff x="0" y="0"/>
            <a:chExt cx="4320108" cy="12098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20032" cy="1209804"/>
            </a:xfrm>
            <a:custGeom>
              <a:avLst/>
              <a:gdLst/>
              <a:ahLst/>
              <a:cxnLst/>
              <a:rect r="r" b="b" t="t" l="l"/>
              <a:pathLst>
                <a:path h="1209804" w="4320032">
                  <a:moveTo>
                    <a:pt x="0" y="201596"/>
                  </a:moveTo>
                  <a:cubicBezTo>
                    <a:pt x="0" y="90224"/>
                    <a:pt x="99695" y="0"/>
                    <a:pt x="222758" y="0"/>
                  </a:cubicBezTo>
                  <a:lnTo>
                    <a:pt x="4097274" y="0"/>
                  </a:lnTo>
                  <a:cubicBezTo>
                    <a:pt x="4220337" y="0"/>
                    <a:pt x="4320032" y="90224"/>
                    <a:pt x="4320032" y="201596"/>
                  </a:cubicBezTo>
                  <a:lnTo>
                    <a:pt x="4320032" y="1008209"/>
                  </a:lnTo>
                  <a:cubicBezTo>
                    <a:pt x="4320032" y="1119581"/>
                    <a:pt x="4220337" y="1209804"/>
                    <a:pt x="4097274" y="1209804"/>
                  </a:cubicBezTo>
                  <a:lnTo>
                    <a:pt x="222758" y="1209804"/>
                  </a:lnTo>
                  <a:cubicBezTo>
                    <a:pt x="99695" y="1209804"/>
                    <a:pt x="0" y="1119581"/>
                    <a:pt x="0" y="1008209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EAF5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56209" y="7823798"/>
            <a:ext cx="3995052" cy="1002621"/>
            <a:chOff x="0" y="0"/>
            <a:chExt cx="5326736" cy="13368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6634" cy="1336802"/>
            </a:xfrm>
            <a:custGeom>
              <a:avLst/>
              <a:gdLst/>
              <a:ahLst/>
              <a:cxnLst/>
              <a:rect r="r" b="b" t="t" l="l"/>
              <a:pathLst>
                <a:path h="1336802" w="5326634">
                  <a:moveTo>
                    <a:pt x="0" y="222758"/>
                  </a:moveTo>
                  <a:cubicBezTo>
                    <a:pt x="0" y="99695"/>
                    <a:pt x="99695" y="0"/>
                    <a:pt x="222758" y="0"/>
                  </a:cubicBezTo>
                  <a:lnTo>
                    <a:pt x="5103876" y="0"/>
                  </a:lnTo>
                  <a:cubicBezTo>
                    <a:pt x="5226939" y="0"/>
                    <a:pt x="5326634" y="99695"/>
                    <a:pt x="5326634" y="222758"/>
                  </a:cubicBezTo>
                  <a:lnTo>
                    <a:pt x="5326634" y="1114044"/>
                  </a:lnTo>
                  <a:cubicBezTo>
                    <a:pt x="5326634" y="1237107"/>
                    <a:pt x="5226939" y="1336802"/>
                    <a:pt x="5103876" y="1336802"/>
                  </a:cubicBezTo>
                  <a:lnTo>
                    <a:pt x="222758" y="1336802"/>
                  </a:lnTo>
                  <a:cubicBezTo>
                    <a:pt x="99695" y="1336802"/>
                    <a:pt x="0" y="1237107"/>
                    <a:pt x="0" y="1114044"/>
                  </a:cubicBezTo>
                  <a:close/>
                </a:path>
              </a:pathLst>
            </a:custGeom>
            <a:solidFill>
              <a:srgbClr val="E2A9F1"/>
            </a:solidFill>
            <a:ln w="14299" cap="sq">
              <a:solidFill>
                <a:srgbClr val="BDD5EE"/>
              </a:solidFill>
              <a:prstDash val="solid"/>
              <a:miter/>
            </a:ln>
          </p:spPr>
        </p:sp>
      </p:grpSp>
      <p:sp>
        <p:nvSpPr>
          <p:cNvPr name="AutoShape 24" id="24"/>
          <p:cNvSpPr/>
          <p:nvPr/>
        </p:nvSpPr>
        <p:spPr>
          <a:xfrm>
            <a:off x="14351146" y="3404163"/>
            <a:ext cx="28604" cy="1222818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5781472" y="4661662"/>
            <a:ext cx="8607800" cy="28545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781441" y="4699731"/>
            <a:ext cx="28602" cy="714937"/>
          </a:xfrm>
          <a:prstGeom prst="line">
            <a:avLst/>
          </a:prstGeom>
          <a:ln cap="rnd" w="19050">
            <a:solidFill>
              <a:srgbClr val="9F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5852287" y="5974937"/>
            <a:ext cx="971816" cy="0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0170092" y="5946339"/>
            <a:ext cx="852198" cy="28598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flipH="true">
            <a:off x="9738543" y="6482214"/>
            <a:ext cx="2568031" cy="1305204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8430447" y="6518406"/>
            <a:ext cx="28593" cy="1305183"/>
          </a:xfrm>
          <a:prstGeom prst="line">
            <a:avLst/>
          </a:prstGeom>
          <a:ln cap="rnd" w="19050">
            <a:solidFill>
              <a:srgbClr val="1179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0" y="2248"/>
            <a:ext cx="1765821" cy="1230169"/>
            <a:chOff x="0" y="0"/>
            <a:chExt cx="2554516" cy="1779617"/>
          </a:xfrm>
        </p:grpSpPr>
        <p:sp>
          <p:nvSpPr>
            <p:cNvPr name="Freeform 34" id="34" descr="Your startup LOGO"/>
            <p:cNvSpPr/>
            <p:nvPr/>
          </p:nvSpPr>
          <p:spPr>
            <a:xfrm flipH="false" flipV="false" rot="0">
              <a:off x="0" y="0"/>
              <a:ext cx="2554478" cy="1779630"/>
            </a:xfrm>
            <a:custGeom>
              <a:avLst/>
              <a:gdLst/>
              <a:ahLst/>
              <a:cxnLst/>
              <a:rect r="r" b="b" t="t" l="l"/>
              <a:pathLst>
                <a:path h="1779630" w="2554478">
                  <a:moveTo>
                    <a:pt x="0" y="889815"/>
                  </a:moveTo>
                  <a:cubicBezTo>
                    <a:pt x="0" y="398429"/>
                    <a:pt x="571881" y="0"/>
                    <a:pt x="1277239" y="0"/>
                  </a:cubicBezTo>
                  <a:cubicBezTo>
                    <a:pt x="1982597" y="0"/>
                    <a:pt x="2554478" y="398429"/>
                    <a:pt x="2554478" y="889815"/>
                  </a:cubicBezTo>
                  <a:cubicBezTo>
                    <a:pt x="2554478" y="1381202"/>
                    <a:pt x="1982597" y="1779630"/>
                    <a:pt x="1277239" y="1779630"/>
                  </a:cubicBezTo>
                  <a:cubicBezTo>
                    <a:pt x="571881" y="1779630"/>
                    <a:pt x="0" y="1381202"/>
                    <a:pt x="0" y="88981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554516" cy="1836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Mindforge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918221" y="-151876"/>
            <a:ext cx="12595831" cy="1312066"/>
            <a:chOff x="0" y="0"/>
            <a:chExt cx="21945600" cy="228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98137" y="1474515"/>
            <a:ext cx="10033370" cy="82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1"/>
              </a:lnSpc>
            </a:pPr>
            <a:r>
              <a:rPr lang="en-US" sz="2743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How the system works: from onboarding to continuous personalization.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8137" y="9745970"/>
            <a:ext cx="823603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8137" y="2955736"/>
            <a:ext cx="280025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1. User Registration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78311" y="2941435"/>
            <a:ext cx="300615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2. Profile + Cognitive Baseline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56043" y="2886808"/>
            <a:ext cx="3006157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3. AI Creates Cognitive Profile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82399" y="2840596"/>
            <a:ext cx="3006157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4. Games + Memory Assistant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24422" y="5838344"/>
            <a:ext cx="3212049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6. Difficulty &amp; Exercises Adjust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022610" y="5838344"/>
            <a:ext cx="3006157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7. Reminders + Voice Support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58880" y="8185748"/>
            <a:ext cx="3761118" cy="46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"/>
              </a:lnSpc>
            </a:pPr>
            <a:r>
              <a:rPr lang="en-US" sz="136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8. Dashboard + Caregiver Feedback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52473" y="9025071"/>
            <a:ext cx="15373931" cy="30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The loop repeats after every session, keeping activities at a comfortable and useful level.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625856" y="118646"/>
            <a:ext cx="514109" cy="498686"/>
          </a:xfrm>
          <a:custGeom>
            <a:avLst/>
            <a:gdLst/>
            <a:ahLst/>
            <a:cxnLst/>
            <a:rect r="r" b="b" t="t" l="l"/>
            <a:pathLst>
              <a:path h="498686" w="514109">
                <a:moveTo>
                  <a:pt x="0" y="0"/>
                </a:moveTo>
                <a:lnTo>
                  <a:pt x="514109" y="0"/>
                </a:lnTo>
                <a:lnTo>
                  <a:pt x="514109" y="498686"/>
                </a:lnTo>
                <a:lnTo>
                  <a:pt x="0" y="498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6E5F5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98137" y="3185820"/>
            <a:ext cx="4955915" cy="2004670"/>
            <a:chOff x="0" y="0"/>
            <a:chExt cx="6607886" cy="26728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435323" y="3210507"/>
            <a:ext cx="4955915" cy="2004670"/>
            <a:chOff x="0" y="0"/>
            <a:chExt cx="6607886" cy="26728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779658" y="3204948"/>
            <a:ext cx="4955915" cy="2004670"/>
            <a:chOff x="0" y="0"/>
            <a:chExt cx="6607886" cy="26728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DDEB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90984" y="5674653"/>
            <a:ext cx="4955915" cy="2004670"/>
            <a:chOff x="0" y="0"/>
            <a:chExt cx="6607886" cy="26728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DDEB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513047" y="5661041"/>
            <a:ext cx="4955915" cy="2004670"/>
            <a:chOff x="0" y="0"/>
            <a:chExt cx="6607886" cy="26728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935687" y="5685868"/>
            <a:ext cx="4955915" cy="2004670"/>
            <a:chOff x="0" y="0"/>
            <a:chExt cx="6607886" cy="26728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07937" cy="2672969"/>
            </a:xfrm>
            <a:custGeom>
              <a:avLst/>
              <a:gdLst/>
              <a:ahLst/>
              <a:cxnLst/>
              <a:rect r="r" b="b" t="t" l="l"/>
              <a:pathLst>
                <a:path h="2672969" w="6607937">
                  <a:moveTo>
                    <a:pt x="0" y="445516"/>
                  </a:moveTo>
                  <a:cubicBezTo>
                    <a:pt x="0" y="199517"/>
                    <a:pt x="199517" y="0"/>
                    <a:pt x="445516" y="0"/>
                  </a:cubicBezTo>
                  <a:lnTo>
                    <a:pt x="6162421" y="0"/>
                  </a:lnTo>
                  <a:cubicBezTo>
                    <a:pt x="6408420" y="0"/>
                    <a:pt x="6607937" y="199517"/>
                    <a:pt x="6607937" y="445516"/>
                  </a:cubicBezTo>
                  <a:lnTo>
                    <a:pt x="6607937" y="2227453"/>
                  </a:lnTo>
                  <a:cubicBezTo>
                    <a:pt x="6607937" y="2473452"/>
                    <a:pt x="6408420" y="2672969"/>
                    <a:pt x="6162421" y="2672969"/>
                  </a:cubicBezTo>
                  <a:lnTo>
                    <a:pt x="445516" y="2672969"/>
                  </a:lnTo>
                  <a:cubicBezTo>
                    <a:pt x="199517" y="2672842"/>
                    <a:pt x="0" y="2473452"/>
                    <a:pt x="0" y="2227453"/>
                  </a:cubicBezTo>
                  <a:close/>
                </a:path>
              </a:pathLst>
            </a:custGeom>
            <a:solidFill>
              <a:srgbClr val="BDE6FF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41979" y="8163487"/>
            <a:ext cx="15800032" cy="1277160"/>
            <a:chOff x="0" y="0"/>
            <a:chExt cx="21066709" cy="1702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66759" cy="1702943"/>
            </a:xfrm>
            <a:custGeom>
              <a:avLst/>
              <a:gdLst/>
              <a:ahLst/>
              <a:cxnLst/>
              <a:rect r="r" b="b" t="t" l="l"/>
              <a:pathLst>
                <a:path h="1702943" w="21066759">
                  <a:moveTo>
                    <a:pt x="0" y="283845"/>
                  </a:moveTo>
                  <a:cubicBezTo>
                    <a:pt x="0" y="127127"/>
                    <a:pt x="127127" y="0"/>
                    <a:pt x="283845" y="0"/>
                  </a:cubicBezTo>
                  <a:lnTo>
                    <a:pt x="20782914" y="0"/>
                  </a:lnTo>
                  <a:cubicBezTo>
                    <a:pt x="20939633" y="0"/>
                    <a:pt x="21066759" y="127127"/>
                    <a:pt x="21066759" y="283845"/>
                  </a:cubicBezTo>
                  <a:lnTo>
                    <a:pt x="21066759" y="1419098"/>
                  </a:lnTo>
                  <a:cubicBezTo>
                    <a:pt x="21066759" y="1575816"/>
                    <a:pt x="20939633" y="1702943"/>
                    <a:pt x="20782914" y="1702943"/>
                  </a:cubicBezTo>
                  <a:lnTo>
                    <a:pt x="283845" y="1702943"/>
                  </a:lnTo>
                  <a:cubicBezTo>
                    <a:pt x="127127" y="1702816"/>
                    <a:pt x="0" y="1575816"/>
                    <a:pt x="0" y="1419098"/>
                  </a:cubicBezTo>
                  <a:close/>
                </a:path>
              </a:pathLst>
            </a:custGeom>
            <a:solidFill>
              <a:srgbClr val="9FC0DF"/>
            </a:solidFill>
            <a:ln w="14299" cap="sq">
              <a:solidFill>
                <a:srgbClr val="EDF6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913226" y="0"/>
            <a:ext cx="3374774" cy="1593504"/>
            <a:chOff x="0" y="0"/>
            <a:chExt cx="4499699" cy="21246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279" y="126495"/>
            <a:ext cx="1986300" cy="1202861"/>
            <a:chOff x="0" y="0"/>
            <a:chExt cx="2750209" cy="1665468"/>
          </a:xfrm>
        </p:grpSpPr>
        <p:sp>
          <p:nvSpPr>
            <p:cNvPr name="Freeform 21" id="21" descr="Your startup LOGO"/>
            <p:cNvSpPr/>
            <p:nvPr/>
          </p:nvSpPr>
          <p:spPr>
            <a:xfrm flipH="false" flipV="false" rot="0">
              <a:off x="0" y="0"/>
              <a:ext cx="275016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750168">
                  <a:moveTo>
                    <a:pt x="0" y="832740"/>
                  </a:moveTo>
                  <a:cubicBezTo>
                    <a:pt x="0" y="372873"/>
                    <a:pt x="615691" y="0"/>
                    <a:pt x="1375084" y="0"/>
                  </a:cubicBezTo>
                  <a:cubicBezTo>
                    <a:pt x="2134477" y="0"/>
                    <a:pt x="2750168" y="372873"/>
                    <a:pt x="2750168" y="832740"/>
                  </a:cubicBezTo>
                  <a:cubicBezTo>
                    <a:pt x="2750168" y="1292608"/>
                    <a:pt x="2134477" y="1665481"/>
                    <a:pt x="1375084" y="1665481"/>
                  </a:cubicBezTo>
                  <a:cubicBezTo>
                    <a:pt x="61569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750209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Mindforge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04232" y="78637"/>
            <a:ext cx="12646984" cy="1317394"/>
            <a:chOff x="0" y="0"/>
            <a:chExt cx="219456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6800" y="2043731"/>
            <a:ext cx="11221312" cy="561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1"/>
              </a:lnSpc>
            </a:pPr>
            <a:r>
              <a:rPr lang="en-US" sz="3067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Features that make the platform useful, accessible and scalable.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8137" y="9745970"/>
            <a:ext cx="823603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64393" y="3765702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📈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75386" y="3913615"/>
            <a:ext cx="3870931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Adaptive AI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55029" y="4410956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Automatically adjusts game difficulty according to performance.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39823" y="3881710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88892" y="3974717"/>
            <a:ext cx="3870931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Cognitive Games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94725" y="4494266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Memory, recall, sequence, pattern and attention activities.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36416" y="3909889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🎙️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50205" y="3974717"/>
            <a:ext cx="387093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Voice Assistant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40567" y="4494266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Simple spoken questions and responses for easier navigation.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7765" y="6457926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🗣️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75386" y="6496026"/>
            <a:ext cx="3870931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Regional Languages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1979" y="6910988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Hindi-first design with expansion to Indian languages.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08453" y="6267426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🔔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76055" y="6388837"/>
            <a:ext cx="3870931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Smart Reminders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39823" y="6880379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Medicines, appointments, events and daily routine prompts.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161882" y="6295830"/>
            <a:ext cx="54906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📊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015751" y="6388837"/>
            <a:ext cx="3870931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Caregiver Dashboard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88112" y="6880379"/>
            <a:ext cx="4447461" cy="116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5"/>
              </a:lnSpc>
            </a:pPr>
            <a:r>
              <a:rPr lang="en-US" sz="1304">
                <a:solidFill>
                  <a:srgbClr val="52637C"/>
                </a:solidFill>
                <a:latin typeface="Aptos"/>
                <a:ea typeface="Aptos"/>
                <a:cs typeface="Aptos"/>
                <a:sym typeface="Aptos"/>
              </a:rPr>
              <a:t>Authorized progress updates and easy-to-read reports.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5216" y="8639737"/>
            <a:ext cx="2882608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Suggested Tech Stack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568941" y="8722100"/>
            <a:ext cx="12216784" cy="384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Python + ML  |  NLP  |  Speech-to-Text / Text-to-Speech  |  HTML/CSS/JavaScript or Mobile App  |  Firebase / MySQL / MongoDB  |  REST APIs + Cloud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803655" y="238648"/>
            <a:ext cx="514109" cy="498686"/>
          </a:xfrm>
          <a:custGeom>
            <a:avLst/>
            <a:gdLst/>
            <a:ahLst/>
            <a:cxnLst/>
            <a:rect r="r" b="b" t="t" l="l"/>
            <a:pathLst>
              <a:path h="498686" w="514109">
                <a:moveTo>
                  <a:pt x="0" y="0"/>
                </a:moveTo>
                <a:lnTo>
                  <a:pt x="514110" y="0"/>
                </a:lnTo>
                <a:lnTo>
                  <a:pt x="514110" y="498686"/>
                </a:lnTo>
                <a:lnTo>
                  <a:pt x="0" y="498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88038" y="3596688"/>
            <a:ext cx="7632630" cy="1826228"/>
            <a:chOff x="0" y="0"/>
            <a:chExt cx="10176840" cy="24349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6891" cy="2434971"/>
            </a:xfrm>
            <a:custGeom>
              <a:avLst/>
              <a:gdLst/>
              <a:ahLst/>
              <a:cxnLst/>
              <a:rect r="r" b="b" t="t" l="l"/>
              <a:pathLst>
                <a:path h="2434971" w="10176891">
                  <a:moveTo>
                    <a:pt x="0" y="405892"/>
                  </a:moveTo>
                  <a:cubicBezTo>
                    <a:pt x="0" y="181737"/>
                    <a:pt x="181737" y="0"/>
                    <a:pt x="405892" y="0"/>
                  </a:cubicBezTo>
                  <a:lnTo>
                    <a:pt x="9770999" y="0"/>
                  </a:lnTo>
                  <a:cubicBezTo>
                    <a:pt x="9995154" y="0"/>
                    <a:pt x="10176891" y="181737"/>
                    <a:pt x="10176891" y="405892"/>
                  </a:cubicBezTo>
                  <a:lnTo>
                    <a:pt x="10176891" y="2029079"/>
                  </a:lnTo>
                  <a:cubicBezTo>
                    <a:pt x="10176891" y="2253234"/>
                    <a:pt x="9995154" y="2434971"/>
                    <a:pt x="9770999" y="2434971"/>
                  </a:cubicBezTo>
                  <a:lnTo>
                    <a:pt x="405892" y="2434971"/>
                  </a:lnTo>
                  <a:cubicBezTo>
                    <a:pt x="181737" y="2434971"/>
                    <a:pt x="0" y="2253234"/>
                    <a:pt x="0" y="2029079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23075" y="3713393"/>
            <a:ext cx="7632630" cy="1826228"/>
            <a:chOff x="0" y="0"/>
            <a:chExt cx="10176840" cy="24349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6891" cy="2434971"/>
            </a:xfrm>
            <a:custGeom>
              <a:avLst/>
              <a:gdLst/>
              <a:ahLst/>
              <a:cxnLst/>
              <a:rect r="r" b="b" t="t" l="l"/>
              <a:pathLst>
                <a:path h="2434971" w="10176891">
                  <a:moveTo>
                    <a:pt x="0" y="405892"/>
                  </a:moveTo>
                  <a:cubicBezTo>
                    <a:pt x="0" y="181737"/>
                    <a:pt x="181737" y="0"/>
                    <a:pt x="405892" y="0"/>
                  </a:cubicBezTo>
                  <a:lnTo>
                    <a:pt x="9770999" y="0"/>
                  </a:lnTo>
                  <a:cubicBezTo>
                    <a:pt x="9995154" y="0"/>
                    <a:pt x="10176891" y="181737"/>
                    <a:pt x="10176891" y="405892"/>
                  </a:cubicBezTo>
                  <a:lnTo>
                    <a:pt x="10176891" y="2029079"/>
                  </a:lnTo>
                  <a:cubicBezTo>
                    <a:pt x="10176891" y="2253234"/>
                    <a:pt x="9995154" y="2434971"/>
                    <a:pt x="9770999" y="2434971"/>
                  </a:cubicBezTo>
                  <a:lnTo>
                    <a:pt x="405892" y="2434971"/>
                  </a:lnTo>
                  <a:cubicBezTo>
                    <a:pt x="181737" y="2434971"/>
                    <a:pt x="0" y="2253234"/>
                    <a:pt x="0" y="2029079"/>
                  </a:cubicBezTo>
                  <a:close/>
                </a:path>
              </a:pathLst>
            </a:custGeom>
            <a:solidFill>
              <a:srgbClr val="BDD5EE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78224" y="5943386"/>
            <a:ext cx="7632630" cy="1826228"/>
            <a:chOff x="0" y="0"/>
            <a:chExt cx="10176840" cy="24349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76891" cy="2434971"/>
            </a:xfrm>
            <a:custGeom>
              <a:avLst/>
              <a:gdLst/>
              <a:ahLst/>
              <a:cxnLst/>
              <a:rect r="r" b="b" t="t" l="l"/>
              <a:pathLst>
                <a:path h="2434971" w="10176891">
                  <a:moveTo>
                    <a:pt x="0" y="405892"/>
                  </a:moveTo>
                  <a:cubicBezTo>
                    <a:pt x="0" y="181737"/>
                    <a:pt x="181737" y="0"/>
                    <a:pt x="405892" y="0"/>
                  </a:cubicBezTo>
                  <a:lnTo>
                    <a:pt x="9770999" y="0"/>
                  </a:lnTo>
                  <a:cubicBezTo>
                    <a:pt x="9995154" y="0"/>
                    <a:pt x="10176891" y="181737"/>
                    <a:pt x="10176891" y="405892"/>
                  </a:cubicBezTo>
                  <a:lnTo>
                    <a:pt x="10176891" y="2029079"/>
                  </a:lnTo>
                  <a:cubicBezTo>
                    <a:pt x="10176891" y="2253234"/>
                    <a:pt x="9995154" y="2434971"/>
                    <a:pt x="9770999" y="2434971"/>
                  </a:cubicBezTo>
                  <a:lnTo>
                    <a:pt x="405892" y="2434971"/>
                  </a:lnTo>
                  <a:cubicBezTo>
                    <a:pt x="181737" y="2434971"/>
                    <a:pt x="0" y="2253234"/>
                    <a:pt x="0" y="2029079"/>
                  </a:cubicBezTo>
                  <a:close/>
                </a:path>
              </a:pathLst>
            </a:custGeom>
            <a:solidFill>
              <a:srgbClr val="BDD5EE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26670" y="6018364"/>
            <a:ext cx="7632630" cy="1826228"/>
            <a:chOff x="0" y="0"/>
            <a:chExt cx="10176840" cy="24349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6891" cy="2434971"/>
            </a:xfrm>
            <a:custGeom>
              <a:avLst/>
              <a:gdLst/>
              <a:ahLst/>
              <a:cxnLst/>
              <a:rect r="r" b="b" t="t" l="l"/>
              <a:pathLst>
                <a:path h="2434971" w="10176891">
                  <a:moveTo>
                    <a:pt x="0" y="405892"/>
                  </a:moveTo>
                  <a:cubicBezTo>
                    <a:pt x="0" y="181737"/>
                    <a:pt x="181737" y="0"/>
                    <a:pt x="405892" y="0"/>
                  </a:cubicBezTo>
                  <a:lnTo>
                    <a:pt x="9770999" y="0"/>
                  </a:lnTo>
                  <a:cubicBezTo>
                    <a:pt x="9995154" y="0"/>
                    <a:pt x="10176891" y="181737"/>
                    <a:pt x="10176891" y="405892"/>
                  </a:cubicBezTo>
                  <a:lnTo>
                    <a:pt x="10176891" y="2029079"/>
                  </a:lnTo>
                  <a:cubicBezTo>
                    <a:pt x="10176891" y="2253234"/>
                    <a:pt x="9995154" y="2434971"/>
                    <a:pt x="9770999" y="2434971"/>
                  </a:cubicBezTo>
                  <a:lnTo>
                    <a:pt x="405892" y="2434971"/>
                  </a:lnTo>
                  <a:cubicBezTo>
                    <a:pt x="181737" y="2434971"/>
                    <a:pt x="0" y="2253234"/>
                    <a:pt x="0" y="2029079"/>
                  </a:cubicBezTo>
                  <a:close/>
                </a:path>
              </a:pathLst>
            </a:custGeom>
            <a:solidFill>
              <a:srgbClr val="E4D9FF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63533" y="9629013"/>
            <a:ext cx="16156924" cy="30766"/>
            <a:chOff x="0" y="0"/>
            <a:chExt cx="21542566" cy="410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7549DA"/>
            </a:solidFill>
            <a:ln w="14299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4913226" y="0"/>
            <a:ext cx="3374774" cy="1593504"/>
            <a:chOff x="0" y="0"/>
            <a:chExt cx="4499699" cy="2124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04232" y="78637"/>
            <a:ext cx="12646984" cy="1317394"/>
            <a:chOff x="0" y="0"/>
            <a:chExt cx="219456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279" y="126495"/>
            <a:ext cx="1986300" cy="1202861"/>
            <a:chOff x="0" y="0"/>
            <a:chExt cx="2750209" cy="1665468"/>
          </a:xfrm>
        </p:grpSpPr>
        <p:sp>
          <p:nvSpPr>
            <p:cNvPr name="Freeform 20" id="20" descr="Your startup LOGO"/>
            <p:cNvSpPr/>
            <p:nvPr/>
          </p:nvSpPr>
          <p:spPr>
            <a:xfrm flipH="false" flipV="false" rot="0">
              <a:off x="0" y="0"/>
              <a:ext cx="275016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750168">
                  <a:moveTo>
                    <a:pt x="0" y="832740"/>
                  </a:moveTo>
                  <a:cubicBezTo>
                    <a:pt x="0" y="372873"/>
                    <a:pt x="615691" y="0"/>
                    <a:pt x="1375084" y="0"/>
                  </a:cubicBezTo>
                  <a:cubicBezTo>
                    <a:pt x="2134477" y="0"/>
                    <a:pt x="2750168" y="372873"/>
                    <a:pt x="2750168" y="832740"/>
                  </a:cubicBezTo>
                  <a:cubicBezTo>
                    <a:pt x="2750168" y="1292608"/>
                    <a:pt x="2134477" y="1665481"/>
                    <a:pt x="1375084" y="1665481"/>
                  </a:cubicBezTo>
                  <a:cubicBezTo>
                    <a:pt x="61569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750209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Mindforge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81602" y="2129447"/>
            <a:ext cx="14658504" cy="121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4007" i="true">
                <a:solidFill>
                  <a:srgbClr val="10213F"/>
                </a:solidFill>
                <a:latin typeface="Aptos Italics"/>
                <a:ea typeface="Aptos Italics"/>
                <a:cs typeface="Aptos Italics"/>
                <a:sym typeface="Aptos Italics"/>
              </a:rPr>
              <a:t>An accessible AI companion for cognitive engagement and everyday support.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8137" y="9745970"/>
            <a:ext cx="823603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b="true">
                <a:solidFill>
                  <a:srgbClr val="BDE6FF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DDEB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1783" y="4091088"/>
            <a:ext cx="549069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40852" y="4163501"/>
            <a:ext cx="5216157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Cognitive engagement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6318" y="4627664"/>
            <a:ext cx="67260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551" i="true">
                <a:solidFill>
                  <a:srgbClr val="52637C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Encourages regular, enjoyable mental activities.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79328" y="4300118"/>
            <a:ext cx="549069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🧭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596743" y="4372532"/>
            <a:ext cx="5216157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Independent routines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20505" y="4856264"/>
            <a:ext cx="67260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b="true" sz="1551" i="true">
                <a:solidFill>
                  <a:srgbClr val="52637C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Supports medicines, appointments and daily tasks.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1783" y="6509547"/>
            <a:ext cx="549069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🤝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90373" y="6581961"/>
            <a:ext cx="5216157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Family connection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5838" y="7019296"/>
            <a:ext cx="67260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551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Allows consent-based progress monitoring.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57774" y="6638030"/>
            <a:ext cx="549069" cy="38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179C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🌐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31312" y="6616275"/>
            <a:ext cx="5216157" cy="2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10213F"/>
                </a:solidFill>
                <a:latin typeface="Aptos Bold"/>
                <a:ea typeface="Aptos Bold"/>
                <a:cs typeface="Aptos Bold"/>
                <a:sym typeface="Aptos Bold"/>
              </a:rPr>
              <a:t>Inclusive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53863" y="7019296"/>
            <a:ext cx="672609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551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Voice and regional-language direction improve usability.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8038" y="8323336"/>
            <a:ext cx="1551119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b="true" sz="225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User registration · cognitive baseline · adaptive games · personal memory · voice interaction · smart reminders · caregiver dashboard · AI-generated exercises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8137" y="9745970"/>
            <a:ext cx="8236039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b="true" sz="1125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72068" y="9745970"/>
            <a:ext cx="54906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b="true" sz="1200">
                <a:solidFill>
                  <a:srgbClr val="7549DA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823535" y="237244"/>
            <a:ext cx="477787" cy="463453"/>
          </a:xfrm>
          <a:custGeom>
            <a:avLst/>
            <a:gdLst/>
            <a:ahLst/>
            <a:cxnLst/>
            <a:rect r="r" b="b" t="t" l="l"/>
            <a:pathLst>
              <a:path h="463453" w="477787">
                <a:moveTo>
                  <a:pt x="0" y="0"/>
                </a:moveTo>
                <a:lnTo>
                  <a:pt x="477787" y="0"/>
                </a:lnTo>
                <a:lnTo>
                  <a:pt x="477787" y="463453"/>
                </a:lnTo>
                <a:lnTo>
                  <a:pt x="0" y="463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6564" y="9781413"/>
            <a:ext cx="16156924" cy="30766"/>
            <a:chOff x="0" y="0"/>
            <a:chExt cx="21542566" cy="410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42629" cy="41021"/>
            </a:xfrm>
            <a:custGeom>
              <a:avLst/>
              <a:gdLst/>
              <a:ahLst/>
              <a:cxnLst/>
              <a:rect r="r" b="b" t="t" l="l"/>
              <a:pathLst>
                <a:path h="41021" w="21542629">
                  <a:moveTo>
                    <a:pt x="0" y="0"/>
                  </a:moveTo>
                  <a:lnTo>
                    <a:pt x="21542629" y="0"/>
                  </a:lnTo>
                  <a:lnTo>
                    <a:pt x="21542629" y="41021"/>
                  </a:lnTo>
                  <a:lnTo>
                    <a:pt x="0" y="41021"/>
                  </a:lnTo>
                  <a:close/>
                </a:path>
              </a:pathLst>
            </a:custGeom>
            <a:solidFill>
              <a:srgbClr val="D6E5F5"/>
            </a:solidFill>
            <a:ln w="14299" cap="sq">
              <a:solidFill>
                <a:srgbClr val="D6E5F5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235407" y="9983629"/>
            <a:ext cx="823603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"/>
              </a:lnSpc>
            </a:pPr>
            <a:r>
              <a:rPr lang="en-US" sz="1125" b="true">
                <a:solidFill>
                  <a:srgbClr val="1179C8"/>
                </a:solidFill>
                <a:latin typeface="Aptos Bold"/>
                <a:ea typeface="Aptos Bold"/>
                <a:cs typeface="Aptos Bold"/>
                <a:sym typeface="Aptos Bold"/>
              </a:rPr>
              <a:t>SMART INDIA HACKATHON 2026 · SIH26003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472068" y="9745970"/>
            <a:ext cx="549069" cy="219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41"/>
              </a:lnSpc>
            </a:pPr>
            <a:r>
              <a:rPr lang="en-US" sz="1200" b="true">
                <a:solidFill>
                  <a:srgbClr val="52637C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084" y="0"/>
            <a:ext cx="18245916" cy="10287000"/>
          </a:xfrm>
          <a:custGeom>
            <a:avLst/>
            <a:gdLst/>
            <a:ahLst/>
            <a:cxnLst/>
            <a:rect r="r" b="b" t="t" l="l"/>
            <a:pathLst>
              <a:path h="10287000" w="18245916">
                <a:moveTo>
                  <a:pt x="0" y="0"/>
                </a:moveTo>
                <a:lnTo>
                  <a:pt x="18245916" y="0"/>
                </a:lnTo>
                <a:lnTo>
                  <a:pt x="1824591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2" t="-152" r="0" b="-121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DAHV5BMM93E</dc:identifier>
  <dcterms:modified xsi:type="dcterms:W3CDTF">2011-08-01T06:04:30Z</dcterms:modified>
  <cp:revision>1</cp:revision>
  <dc:title>SIH26003_AI_Cognitive_Gaming_Memory_Assistant_6_Page_Flowchart (2).pptx</dc:title>
</cp:coreProperties>
</file>